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564185" y="552671"/>
            <a:ext cx="7772400" cy="1120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 i="0" dirty="0">
                <a:solidFill>
                  <a:srgbClr val="F5F8FF"/>
                </a:solidFill>
                <a:latin typeface="Aptos"/>
              </a:rPr>
              <a:t>SMART PAGE</a:t>
            </a:r>
            <a:r>
              <a:rPr lang="en-IN" sz="3400" b="1" i="0" dirty="0">
                <a:solidFill>
                  <a:srgbClr val="F5F8FF"/>
                </a:solidFill>
                <a:latin typeface="Aptos"/>
              </a:rPr>
              <a:t> </a:t>
            </a:r>
            <a:r>
              <a:rPr sz="3400" b="1" i="0" dirty="0">
                <a:solidFill>
                  <a:srgbClr val="F5F8FF"/>
                </a:solidFill>
                <a:latin typeface="Aptos"/>
              </a:rPr>
              <a:t>REPLACEMENT</a:t>
            </a:r>
            <a:r>
              <a:rPr lang="en-IN" sz="3400" b="1" dirty="0">
                <a:solidFill>
                  <a:srgbClr val="F5F8FF"/>
                </a:solidFill>
                <a:latin typeface="Aptos"/>
              </a:rPr>
              <a:t> </a:t>
            </a:r>
            <a:r>
              <a:rPr sz="3400" b="1" i="0" dirty="0">
                <a:solidFill>
                  <a:srgbClr val="F5F8FF"/>
                </a:solidFill>
                <a:latin typeface="Aptos"/>
              </a:rPr>
              <a:t>ALGORITHM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5517" y="1773188"/>
            <a:ext cx="7498079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 dirty="0">
                <a:solidFill>
                  <a:srgbClr val="BECFE6"/>
                </a:solidFill>
                <a:latin typeface="Aptos"/>
              </a:rPr>
              <a:t>An Interactive Memory Management Simulator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" y="2947568"/>
            <a:ext cx="7223760" cy="9971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 dirty="0">
                <a:solidFill>
                  <a:srgbClr val="F5F8FF"/>
                </a:solidFill>
                <a:latin typeface="Aptos"/>
              </a:rPr>
              <a:t>Presented by: </a:t>
            </a:r>
            <a:endParaRPr lang="en-IN" sz="1500" b="1" dirty="0">
              <a:solidFill>
                <a:srgbClr val="F5F8FF"/>
              </a:solidFill>
              <a:latin typeface="Aptos"/>
            </a:endParaRPr>
          </a:p>
          <a:p>
            <a:pPr algn="l">
              <a:spcAft>
                <a:spcPts val="0"/>
              </a:spcAft>
            </a:pPr>
            <a:r>
              <a:rPr lang="en-IN" sz="1500" b="1" i="0" dirty="0">
                <a:solidFill>
                  <a:srgbClr val="F5F8FF"/>
                </a:solidFill>
                <a:latin typeface="Aptos"/>
              </a:rPr>
              <a:t>P. Jahnavi – 2520090012</a:t>
            </a:r>
          </a:p>
          <a:p>
            <a:pPr algn="l">
              <a:spcAft>
                <a:spcPts val="0"/>
              </a:spcAft>
            </a:pPr>
            <a:r>
              <a:rPr lang="en-IN" sz="1500" b="1" dirty="0">
                <a:solidFill>
                  <a:srgbClr val="F5F8FF"/>
                </a:solidFill>
                <a:latin typeface="Aptos"/>
              </a:rPr>
              <a:t>S.R.R. Keerthi – 2520090150</a:t>
            </a:r>
          </a:p>
          <a:p>
            <a:pPr algn="l">
              <a:spcAft>
                <a:spcPts val="0"/>
              </a:spcAft>
            </a:pPr>
            <a:r>
              <a:rPr lang="en-IN" sz="1500" b="1" dirty="0">
                <a:solidFill>
                  <a:srgbClr val="F5F8FF"/>
                </a:solidFill>
                <a:latin typeface="Aptos"/>
              </a:rPr>
              <a:t>B. Navya - 2520090189</a:t>
            </a:r>
            <a:endParaRPr sz="1500" b="1" i="0" dirty="0">
              <a:solidFill>
                <a:srgbClr val="F5F8FF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22376" y="3985912"/>
            <a:ext cx="7772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 dirty="0">
                <a:solidFill>
                  <a:srgbClr val="BECFE6"/>
                </a:solidFill>
                <a:latin typeface="Aptos"/>
              </a:rPr>
              <a:t>Department: Computer Science and Information Technology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4553276"/>
            <a:ext cx="7772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ECFE6"/>
                </a:solidFill>
                <a:latin typeface="Aptos"/>
              </a:rPr>
              <a:t>College: KLH, Bachupally  |  Hackathon: [Event Name]</a:t>
            </a:r>
          </a:p>
        </p:txBody>
      </p:sp>
      <p:pic>
        <p:nvPicPr>
          <p:cNvPr id="23" name="Picture 22" descr="MAPS &amp; DIRECTIONS - Best Private University in Telangana ...">
            <a:extLst>
              <a:ext uri="{FF2B5EF4-FFF2-40B4-BE49-F238E27FC236}">
                <a16:creationId xmlns:a16="http://schemas.microsoft.com/office/drawing/2014/main" id="{B935317B-D3AF-5FDE-E0C5-C0E67CC6A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3902" y="5654568"/>
            <a:ext cx="2368098" cy="12034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85800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5F8FF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71016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ECFE6"/>
                </a:solidFill>
                <a:latin typeface="Aptos"/>
              </a:rPr>
              <a:t>Why page replacement decisions matter in operating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01384"/>
            <a:ext cx="411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9CDE7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11680"/>
            <a:ext cx="1069848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5F8FF"/>
                </a:solidFill>
                <a:latin typeface="Aptos"/>
              </a:rPr>
              <a:t>When RAM is full and a requested page is not present, the operating system must choose an existing page to replace.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063240"/>
            <a:ext cx="3429000" cy="1645920"/>
          </a:xfrm>
          <a:prstGeom prst="roundRect">
            <a:avLst/>
          </a:prstGeom>
          <a:solidFill>
            <a:srgbClr val="172B4D"/>
          </a:solidFill>
          <a:ln>
            <a:solidFill>
              <a:srgbClr val="304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3063240"/>
            <a:ext cx="54864" cy="1645920"/>
          </a:xfrm>
          <a:prstGeom prst="rect">
            <a:avLst/>
          </a:prstGeom>
          <a:solidFill>
            <a:srgbClr val="49CDE7"/>
          </a:solidFill>
          <a:ln>
            <a:solidFill>
              <a:srgbClr val="49C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218688"/>
            <a:ext cx="304495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8FF"/>
                </a:solidFill>
                <a:latin typeface="Aptos"/>
              </a:rPr>
              <a:t>LIMITED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30168"/>
            <a:ext cx="3044952" cy="9692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ECFE6"/>
                </a:solidFill>
                <a:latin typeface="Aptos"/>
              </a:rPr>
              <a:t>Physical memory can hold only a limited number of pages at one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3063240"/>
            <a:ext cx="3429000" cy="1645920"/>
          </a:xfrm>
          <a:prstGeom prst="roundRect">
            <a:avLst/>
          </a:prstGeom>
          <a:solidFill>
            <a:srgbClr val="172B4D"/>
          </a:solidFill>
          <a:ln>
            <a:solidFill>
              <a:srgbClr val="304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70832" y="3063240"/>
            <a:ext cx="54864" cy="1645920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3218688"/>
            <a:ext cx="304495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8FF"/>
                </a:solidFill>
                <a:latin typeface="Aptos"/>
              </a:rPr>
              <a:t>DIFFERENT STRATEGIES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630168"/>
            <a:ext cx="3044952" cy="9692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ECFE6"/>
                </a:solidFill>
                <a:latin typeface="Aptos"/>
              </a:rPr>
              <a:t>FIFO, LRU and Optimal can make different replacement choices.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3063240"/>
            <a:ext cx="3429000" cy="1645920"/>
          </a:xfrm>
          <a:prstGeom prst="roundRect">
            <a:avLst/>
          </a:prstGeom>
          <a:solidFill>
            <a:srgbClr val="172B4D"/>
          </a:solidFill>
          <a:ln>
            <a:solidFill>
              <a:srgbClr val="304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28431" y="3063240"/>
            <a:ext cx="54864" cy="1645920"/>
          </a:xfrm>
          <a:prstGeom prst="rect">
            <a:avLst/>
          </a:prstGeom>
          <a:solidFill>
            <a:srgbClr val="FFBE5C"/>
          </a:solidFill>
          <a:ln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3218688"/>
            <a:ext cx="304495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8FF"/>
                </a:solidFill>
                <a:latin typeface="Aptos"/>
              </a:rPr>
              <a:t>MANUAL COMPARISON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630168"/>
            <a:ext cx="3044952" cy="9692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ECFE6"/>
                </a:solidFill>
                <a:latin typeface="Aptos"/>
              </a:rPr>
              <a:t>Tracking frame changes and fault counts by hand can be time-consuming.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5074920"/>
            <a:ext cx="10744200" cy="731520"/>
          </a:xfrm>
          <a:prstGeom prst="roundRect">
            <a:avLst/>
          </a:prstGeom>
          <a:solidFill>
            <a:srgbClr val="112345"/>
          </a:solidFill>
          <a:ln>
            <a:solidFill>
              <a:srgbClr val="304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5230368"/>
            <a:ext cx="2240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9CDE7"/>
                </a:solidFill>
                <a:latin typeface="Aptos"/>
              </a:rPr>
              <a:t>OUR PROPOSED SOLUTION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5202936"/>
            <a:ext cx="7955279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8FF"/>
                </a:solidFill>
                <a:latin typeface="Aptos"/>
              </a:rPr>
              <a:t>An interactive simulator that visualizes frames, counts hits and faults, and compares the algorithms.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85800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5F8FF"/>
                </a:solidFill>
                <a:latin typeface="Aptos"/>
              </a:rP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71016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ECFE6"/>
                </a:solidFill>
                <a:latin typeface="Aptos"/>
              </a:rPr>
              <a:t>What the Smart Page Replacement Simulator aims to achieve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01384"/>
            <a:ext cx="411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9CDE7"/>
                </a:solidFill>
                <a:latin typeface="Aptos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3383280" cy="1234440"/>
          </a:xfrm>
          <a:prstGeom prst="roundRect">
            <a:avLst/>
          </a:prstGeom>
          <a:solidFill>
            <a:srgbClr val="172B4D"/>
          </a:solidFill>
          <a:ln>
            <a:solidFill>
              <a:srgbClr val="304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221992"/>
            <a:ext cx="43891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49CDE7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221992"/>
            <a:ext cx="2423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F8FF"/>
                </a:solidFill>
                <a:latin typeface="Aptos"/>
              </a:rPr>
              <a:t>SIMULATE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24328"/>
            <a:ext cx="30175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ECFE6"/>
                </a:solidFill>
                <a:latin typeface="Aptos"/>
              </a:rPr>
              <a:t>Run FIFO, LRU and Optimal on the same page-reference sequence.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057400"/>
            <a:ext cx="3383280" cy="1234440"/>
          </a:xfrm>
          <a:prstGeom prst="roundRect">
            <a:avLst/>
          </a:prstGeom>
          <a:solidFill>
            <a:srgbClr val="172B4D"/>
          </a:solidFill>
          <a:ln>
            <a:solidFill>
              <a:srgbClr val="304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9431" y="2221992"/>
            <a:ext cx="43891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49CDE7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8072" y="2221992"/>
            <a:ext cx="2423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F8FF"/>
                </a:solidFill>
                <a:latin typeface="Aptos"/>
              </a:rPr>
              <a:t>VISUALIZE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624328"/>
            <a:ext cx="30175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ECFE6"/>
                </a:solidFill>
                <a:latin typeface="Aptos"/>
              </a:rPr>
              <a:t>Show how pages enter, remain in, and leave memory frames.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057400"/>
            <a:ext cx="3383280" cy="1234440"/>
          </a:xfrm>
          <a:prstGeom prst="roundRect">
            <a:avLst/>
          </a:prstGeom>
          <a:solidFill>
            <a:srgbClr val="172B4D"/>
          </a:solidFill>
          <a:ln>
            <a:solidFill>
              <a:srgbClr val="304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02752" y="2221992"/>
            <a:ext cx="43891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49CDE7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1392" y="2221992"/>
            <a:ext cx="2423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F8FF"/>
                </a:solidFill>
                <a:latin typeface="Aptos"/>
              </a:rPr>
              <a:t>MEASURE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624328"/>
            <a:ext cx="30175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ECFE6"/>
                </a:solidFill>
                <a:latin typeface="Aptos"/>
              </a:rPr>
              <a:t>Count page hits and page faults for each algorithm.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657600"/>
            <a:ext cx="3383280" cy="1234440"/>
          </a:xfrm>
          <a:prstGeom prst="roundRect">
            <a:avLst/>
          </a:prstGeom>
          <a:solidFill>
            <a:srgbClr val="172B4D"/>
          </a:solidFill>
          <a:ln>
            <a:solidFill>
              <a:srgbClr val="304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3822191"/>
            <a:ext cx="43891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49CDE7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3822191"/>
            <a:ext cx="2423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F8FF"/>
                </a:solidFill>
                <a:latin typeface="Aptos"/>
              </a:rPr>
              <a:t>COMPARE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24528"/>
            <a:ext cx="30175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ECFE6"/>
                </a:solidFill>
                <a:latin typeface="Aptos"/>
              </a:rPr>
              <a:t>Present results in a clear, side-by-side dashboard.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657600"/>
            <a:ext cx="3383280" cy="1234440"/>
          </a:xfrm>
          <a:prstGeom prst="roundRect">
            <a:avLst/>
          </a:prstGeom>
          <a:solidFill>
            <a:srgbClr val="172B4D"/>
          </a:solidFill>
          <a:ln>
            <a:solidFill>
              <a:srgbClr val="304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99431" y="3822191"/>
            <a:ext cx="43891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49CDE7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48072" y="3822191"/>
            <a:ext cx="2423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F8FF"/>
                </a:solidFill>
                <a:latin typeface="Aptos"/>
              </a:rPr>
              <a:t>RECOMMEND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224528"/>
            <a:ext cx="30175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ECFE6"/>
                </a:solidFill>
                <a:latin typeface="Aptos"/>
              </a:rPr>
              <a:t>Identify the algorithm(s) with the fewest faults for the given input.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9CDE7"/>
                </a:solidFill>
                <a:latin typeface="Aptos"/>
              </a:rPr>
              <a:t>04  /  SMART PAGE REPLACEMENT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5F8FF"/>
                </a:solidFill>
                <a:latin typeface="Aptos"/>
              </a:rPr>
              <a:t>Existing vs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71016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ECFE6"/>
                </a:solidFill>
                <a:latin typeface="Aptos"/>
              </a:rPr>
              <a:t>From manual tracing to an interactive visual simulator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01384"/>
            <a:ext cx="411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9CDE7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057400"/>
            <a:ext cx="5074920" cy="3429000"/>
          </a:xfrm>
          <a:prstGeom prst="roundRect">
            <a:avLst/>
          </a:prstGeom>
          <a:solidFill>
            <a:srgbClr val="112345"/>
          </a:solidFill>
          <a:ln>
            <a:solidFill>
              <a:srgbClr val="304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331720"/>
            <a:ext cx="44805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5F8FF"/>
                </a:solidFill>
                <a:latin typeface="Aptos"/>
              </a:rPr>
              <a:t>MANUAL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926080"/>
            <a:ext cx="4389120" cy="1920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BECFE6"/>
                </a:solidFill>
                <a:latin typeface="Aptos"/>
              </a:rPr>
              <a:t>• Track each frame by hand
• Count faults separately
• Compare algorithms manually
• Easy to miss a replacement or count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2057400"/>
            <a:ext cx="5074920" cy="3429000"/>
          </a:xfrm>
          <a:prstGeom prst="roundRect">
            <a:avLst/>
          </a:prstGeom>
          <a:solidFill>
            <a:srgbClr val="172B4D"/>
          </a:solidFill>
          <a:ln>
            <a:solidFill>
              <a:srgbClr val="304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01968" y="2331720"/>
            <a:ext cx="44805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49CDE7"/>
                </a:solidFill>
                <a:latin typeface="Aptos"/>
              </a:rPr>
              <a:t>PROPOSED SIMULATOR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2926080"/>
            <a:ext cx="4389120" cy="1920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5F8FF"/>
                </a:solidFill>
                <a:latin typeface="Aptos"/>
              </a:rPr>
              <a:t>• Enter the sequence and frame count
• Step-by-step frame visualization
• Automatic hit/fault totals
• Side-by-side comparison and recommendation</a:t>
            </a:r>
          </a:p>
        </p:txBody>
      </p:sp>
      <p:sp>
        <p:nvSpPr>
          <p:cNvPr id="14" name="Chevron 13"/>
          <p:cNvSpPr/>
          <p:nvPr/>
        </p:nvSpPr>
        <p:spPr>
          <a:xfrm>
            <a:off x="5715000" y="3383280"/>
            <a:ext cx="502920" cy="594360"/>
          </a:xfrm>
          <a:prstGeom prst="chevron">
            <a:avLst/>
          </a:prstGeom>
          <a:solidFill>
            <a:srgbClr val="49CDE7"/>
          </a:solidFill>
          <a:ln>
            <a:solidFill>
              <a:srgbClr val="49C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9CDE7"/>
                </a:solidFill>
                <a:latin typeface="Aptos"/>
              </a:rPr>
              <a:t>05  /  SMART PAGE REPLACEMENT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5F8FF"/>
                </a:solidFill>
                <a:latin typeface="Aptos"/>
              </a:rPr>
              <a:t>Algorithms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71016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ECFE6"/>
                </a:solidFill>
                <a:latin typeface="Aptos"/>
              </a:rPr>
              <a:t>Three replacement policies, three different decision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46504"/>
            <a:ext cx="960120" cy="41148"/>
          </a:xfrm>
          <a:prstGeom prst="rect">
            <a:avLst/>
          </a:prstGeom>
          <a:solidFill>
            <a:srgbClr val="49CDE7"/>
          </a:solidFill>
          <a:ln>
            <a:solidFill>
              <a:srgbClr val="49C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6858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BECFE6"/>
                </a:solidFill>
                <a:latin typeface="Aptos"/>
              </a:rPr>
              <a:t>SMART PAGE REPLACEMENT 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01384"/>
            <a:ext cx="411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9CDE7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057400"/>
            <a:ext cx="3456432" cy="2331720"/>
          </a:xfrm>
          <a:prstGeom prst="roundRect">
            <a:avLst/>
          </a:prstGeom>
          <a:solidFill>
            <a:srgbClr val="172B4D"/>
          </a:solidFill>
          <a:ln>
            <a:solidFill>
              <a:srgbClr val="304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9808" y="2057400"/>
            <a:ext cx="54864" cy="2331720"/>
          </a:xfrm>
          <a:prstGeom prst="rect">
            <a:avLst/>
          </a:prstGeom>
          <a:solidFill>
            <a:srgbClr val="49CDE7"/>
          </a:solidFill>
          <a:ln>
            <a:solidFill>
              <a:srgbClr val="49C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212848"/>
            <a:ext cx="307238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5F8FF"/>
                </a:solidFill>
                <a:latin typeface="Aptos"/>
              </a:rPr>
              <a:t>FIFO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624328"/>
            <a:ext cx="3072384" cy="165506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ECFE6"/>
                </a:solidFill>
                <a:latin typeface="Aptos"/>
              </a:rPr>
              <a:t>First In, First Out
Replaces the page that entered memory earliest.
Decision: When did it arrive?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2057400"/>
            <a:ext cx="3456432" cy="2331720"/>
          </a:xfrm>
          <a:prstGeom prst="roundRect">
            <a:avLst/>
          </a:prstGeom>
          <a:solidFill>
            <a:srgbClr val="172B4D"/>
          </a:solidFill>
          <a:ln>
            <a:solidFill>
              <a:srgbClr val="304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0832" y="2057400"/>
            <a:ext cx="54864" cy="2331720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2212848"/>
            <a:ext cx="307238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5F8FF"/>
                </a:solidFill>
                <a:latin typeface="Aptos"/>
              </a:rPr>
              <a:t>LRU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24328"/>
            <a:ext cx="3072384" cy="165506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ECFE6"/>
                </a:solidFill>
                <a:latin typeface="Aptos"/>
              </a:rPr>
              <a:t>Least Recently Used
Replaces the page that has not been accessed for the longest time.
Decision: When was it last used?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6" y="2057400"/>
            <a:ext cx="3456432" cy="2331720"/>
          </a:xfrm>
          <a:prstGeom prst="roundRect">
            <a:avLst/>
          </a:prstGeom>
          <a:solidFill>
            <a:srgbClr val="172B4D"/>
          </a:solidFill>
          <a:ln>
            <a:solidFill>
              <a:srgbClr val="304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91856" y="2057400"/>
            <a:ext cx="54864" cy="2331720"/>
          </a:xfrm>
          <a:prstGeom prst="rect">
            <a:avLst/>
          </a:prstGeom>
          <a:solidFill>
            <a:srgbClr val="53D297"/>
          </a:solidFill>
          <a:ln>
            <a:solidFill>
              <a:srgbClr val="53D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93024" y="2212848"/>
            <a:ext cx="307238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5F8FF"/>
                </a:solidFill>
                <a:latin typeface="Aptos"/>
              </a:rPr>
              <a:t>OPTIMAL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2624328"/>
            <a:ext cx="3072384" cy="165506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ECFE6"/>
                </a:solidFill>
                <a:latin typeface="Aptos"/>
              </a:rPr>
              <a:t>Optimal Replacement
Replaces the page whose next use is farthest in the future.
Decision: When will it be used next?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800600"/>
            <a:ext cx="10698480" cy="777240"/>
          </a:xfrm>
          <a:prstGeom prst="roundRect">
            <a:avLst/>
          </a:prstGeom>
          <a:solidFill>
            <a:srgbClr val="112345"/>
          </a:solidFill>
          <a:ln>
            <a:solidFill>
              <a:srgbClr val="304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" y="5010912"/>
            <a:ext cx="16916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9CDE7"/>
                </a:solidFill>
                <a:latin typeface="Aptos"/>
              </a:rPr>
              <a:t>KEY DISTINCTION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965192"/>
            <a:ext cx="8229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8FF"/>
                </a:solidFill>
                <a:latin typeface="Aptos"/>
              </a:rPr>
              <a:t>FIFO uses arrival order • LRU uses past access • Optimal looks ahead in the supplied sequence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199632"/>
            <a:ext cx="10881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BECFE6"/>
                </a:solidFill>
                <a:latin typeface="Aptos"/>
              </a:rPr>
              <a:t>Optimal is a benchmark in this simulator because the full reference sequence is known in advance.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9CDE7"/>
                </a:solidFill>
                <a:latin typeface="Aptos"/>
              </a:rPr>
              <a:t>06  /  SMART PAGE REPLACEMENT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5F8FF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71016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ECFE6"/>
                </a:solidFill>
                <a:latin typeface="Aptos"/>
              </a:rPr>
              <a:t>How input moves through the browser-based simulator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46504"/>
            <a:ext cx="960120" cy="41148"/>
          </a:xfrm>
          <a:prstGeom prst="rect">
            <a:avLst/>
          </a:prstGeom>
          <a:solidFill>
            <a:srgbClr val="49CDE7"/>
          </a:solidFill>
          <a:ln>
            <a:solidFill>
              <a:srgbClr val="49C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6858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BECFE6"/>
                </a:solidFill>
                <a:latin typeface="Aptos"/>
              </a:rPr>
              <a:t>SMART PAGE REPLACEMENT 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01384"/>
            <a:ext cx="411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9CDE7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2148840" cy="914400"/>
          </a:xfrm>
          <a:prstGeom prst="roundRect">
            <a:avLst/>
          </a:prstGeom>
          <a:solidFill>
            <a:srgbClr val="172B4D"/>
          </a:solidFill>
          <a:ln>
            <a:solidFill>
              <a:srgbClr val="304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2459736"/>
            <a:ext cx="192938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49CDE7"/>
                </a:solidFill>
                <a:latin typeface="Aptos"/>
              </a:rPr>
              <a:t>USER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770632"/>
            <a:ext cx="1929384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Reference string
Frame count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2331720"/>
            <a:ext cx="2148840" cy="914400"/>
          </a:xfrm>
          <a:prstGeom prst="roundRect">
            <a:avLst/>
          </a:prstGeom>
          <a:solidFill>
            <a:srgbClr val="172B4D"/>
          </a:solidFill>
          <a:ln>
            <a:solidFill>
              <a:srgbClr val="304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55848" y="2459736"/>
            <a:ext cx="192938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49CDE7"/>
                </a:solidFill>
                <a:latin typeface="Aptos"/>
              </a:rPr>
              <a:t>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2770632"/>
            <a:ext cx="1929384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Check input
and frame count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2331720"/>
            <a:ext cx="2148840" cy="914400"/>
          </a:xfrm>
          <a:prstGeom prst="roundRect">
            <a:avLst/>
          </a:prstGeom>
          <a:solidFill>
            <a:srgbClr val="172B4D"/>
          </a:solidFill>
          <a:ln>
            <a:solidFill>
              <a:srgbClr val="304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70448" y="2459736"/>
            <a:ext cx="192938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49CDE7"/>
                </a:solidFill>
                <a:latin typeface="Aptos"/>
              </a:rPr>
              <a:t>SIMULATION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0448" y="2770632"/>
            <a:ext cx="1929384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FIFO • LRU
Optimal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2331720"/>
            <a:ext cx="2743200" cy="914400"/>
          </a:xfrm>
          <a:prstGeom prst="roundRect">
            <a:avLst/>
          </a:prstGeom>
          <a:solidFill>
            <a:srgbClr val="172B4D"/>
          </a:solidFill>
          <a:ln>
            <a:solidFill>
              <a:srgbClr val="304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85048" y="2459736"/>
            <a:ext cx="252374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49CDE7"/>
                </a:solidFill>
                <a:latin typeface="Aptos"/>
              </a:rPr>
              <a:t>RESULTS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770632"/>
            <a:ext cx="2523744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5F8FF"/>
                </a:solidFill>
                <a:latin typeface="Aptos"/>
              </a:rPr>
              <a:t>Frames • Hits • Faults
Ratios • Comparison</a:t>
            </a:r>
          </a:p>
        </p:txBody>
      </p:sp>
      <p:sp>
        <p:nvSpPr>
          <p:cNvPr id="20" name="Chevron 19"/>
          <p:cNvSpPr/>
          <p:nvPr/>
        </p:nvSpPr>
        <p:spPr>
          <a:xfrm>
            <a:off x="2889504" y="2587752"/>
            <a:ext cx="256032" cy="320040"/>
          </a:xfrm>
          <a:prstGeom prst="chevron">
            <a:avLst/>
          </a:prstGeom>
          <a:solidFill>
            <a:srgbClr val="49CDE7"/>
          </a:solidFill>
          <a:ln>
            <a:solidFill>
              <a:srgbClr val="49C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hevron 20"/>
          <p:cNvSpPr/>
          <p:nvPr/>
        </p:nvSpPr>
        <p:spPr>
          <a:xfrm>
            <a:off x="5404104" y="2587752"/>
            <a:ext cx="256032" cy="320040"/>
          </a:xfrm>
          <a:prstGeom prst="chevron">
            <a:avLst/>
          </a:prstGeom>
          <a:solidFill>
            <a:srgbClr val="49CDE7"/>
          </a:solidFill>
          <a:ln>
            <a:solidFill>
              <a:srgbClr val="49C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hevron 21"/>
          <p:cNvSpPr/>
          <p:nvPr/>
        </p:nvSpPr>
        <p:spPr>
          <a:xfrm>
            <a:off x="7918704" y="2587752"/>
            <a:ext cx="256032" cy="320040"/>
          </a:xfrm>
          <a:prstGeom prst="chevron">
            <a:avLst/>
          </a:prstGeom>
          <a:solidFill>
            <a:srgbClr val="49CDE7"/>
          </a:solidFill>
          <a:ln>
            <a:solidFill>
              <a:srgbClr val="49C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828800" y="3977639"/>
            <a:ext cx="8503920" cy="914400"/>
          </a:xfrm>
          <a:prstGeom prst="roundRect">
            <a:avLst/>
          </a:prstGeom>
          <a:solidFill>
            <a:srgbClr val="112345"/>
          </a:solidFill>
          <a:ln>
            <a:solidFill>
              <a:srgbClr val="304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057400" y="4187952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9CDE7"/>
                </a:solidFill>
                <a:latin typeface="Aptos"/>
              </a:rPr>
              <a:t>SMART 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4142232"/>
            <a:ext cx="58521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5F8FF"/>
                </a:solidFill>
                <a:latin typeface="Aptos"/>
              </a:rPr>
              <a:t>Compare page-fault totals and highlight the lowest result (including ties).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349240"/>
            <a:ext cx="10058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BECFE6"/>
                </a:solidFill>
                <a:latin typeface="Aptos"/>
              </a:rPr>
              <a:t>Planned client-side flow: HTML interface  →  JavaScript logic  →  rendered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9CDE7"/>
                </a:solidFill>
                <a:latin typeface="Aptos"/>
              </a:rPr>
              <a:t>07  /  SMART PAGE REPLACEMENT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5F8FF"/>
                </a:solidFill>
                <a:latin typeface="Aptos"/>
              </a:rPr>
              <a:t>Technology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71016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ECFE6"/>
                </a:solidFill>
                <a:latin typeface="Aptos"/>
              </a:rPr>
              <a:t>A lightweight web application designed for a live demonstration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46504"/>
            <a:ext cx="960120" cy="41148"/>
          </a:xfrm>
          <a:prstGeom prst="rect">
            <a:avLst/>
          </a:prstGeom>
          <a:solidFill>
            <a:srgbClr val="49CDE7"/>
          </a:solidFill>
          <a:ln>
            <a:solidFill>
              <a:srgbClr val="49C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6858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BECFE6"/>
                </a:solidFill>
                <a:latin typeface="Aptos"/>
              </a:rPr>
              <a:t>SMART PAGE REPLACEMENT 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01384"/>
            <a:ext cx="411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9CDE7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057400"/>
            <a:ext cx="3429000" cy="1600200"/>
          </a:xfrm>
          <a:prstGeom prst="roundRect">
            <a:avLst/>
          </a:prstGeom>
          <a:solidFill>
            <a:srgbClr val="172B4D"/>
          </a:solidFill>
          <a:ln>
            <a:solidFill>
              <a:srgbClr val="304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9808" y="2057400"/>
            <a:ext cx="54864" cy="1600200"/>
          </a:xfrm>
          <a:prstGeom prst="rect">
            <a:avLst/>
          </a:prstGeom>
          <a:solidFill>
            <a:srgbClr val="49CDE7"/>
          </a:solidFill>
          <a:ln>
            <a:solidFill>
              <a:srgbClr val="49C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212848"/>
            <a:ext cx="304495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5F8FF"/>
                </a:solidFill>
                <a:latin typeface="Aptos"/>
              </a:rPr>
              <a:t>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624328"/>
            <a:ext cx="3044952" cy="9235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ECFE6"/>
                </a:solidFill>
                <a:latin typeface="Aptos"/>
              </a:rPr>
              <a:t>Builds the structure: input fields, buttons, tables and result sections.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2057400"/>
            <a:ext cx="3429000" cy="1600200"/>
          </a:xfrm>
          <a:prstGeom prst="roundRect">
            <a:avLst/>
          </a:prstGeom>
          <a:solidFill>
            <a:srgbClr val="172B4D"/>
          </a:solidFill>
          <a:ln>
            <a:solidFill>
              <a:srgbClr val="304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0832" y="2057400"/>
            <a:ext cx="54864" cy="1600200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2212848"/>
            <a:ext cx="304495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5F8FF"/>
                </a:solidFill>
                <a:latin typeface="Aptos"/>
              </a:rPr>
              <a:t>CSS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24328"/>
            <a:ext cx="3044952" cy="9235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ECFE6"/>
                </a:solidFill>
                <a:latin typeface="Aptos"/>
              </a:rPr>
              <a:t>Controls the visual design, layout, colors, responsive behavior and transitions.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6" y="2057400"/>
            <a:ext cx="3429000" cy="1600200"/>
          </a:xfrm>
          <a:prstGeom prst="roundRect">
            <a:avLst/>
          </a:prstGeom>
          <a:solidFill>
            <a:srgbClr val="172B4D"/>
          </a:solidFill>
          <a:ln>
            <a:solidFill>
              <a:srgbClr val="304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91856" y="2057400"/>
            <a:ext cx="54864" cy="1600200"/>
          </a:xfrm>
          <a:prstGeom prst="rect">
            <a:avLst/>
          </a:prstGeom>
          <a:solidFill>
            <a:srgbClr val="53D297"/>
          </a:solidFill>
          <a:ln>
            <a:solidFill>
              <a:srgbClr val="53D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93024" y="2212848"/>
            <a:ext cx="304495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5F8FF"/>
                </a:solidFill>
                <a:latin typeface="Aptos"/>
              </a:rPr>
              <a:t>JAVASCRIPT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2624328"/>
            <a:ext cx="3044952" cy="9235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ECFE6"/>
                </a:solidFill>
                <a:latin typeface="Aptos"/>
              </a:rPr>
              <a:t>Implements the algorithms, updates frames, counts results and selects the lowest-fault outcome.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18288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9CDE7"/>
                </a:solidFill>
                <a:latin typeface="Aptos"/>
              </a:rPr>
              <a:t>CORE LOGIC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53712"/>
            <a:ext cx="10424160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8FF"/>
                </a:solidFill>
                <a:latin typeface="Aptos"/>
              </a:rPr>
              <a:t>1. Read and validate input   2. Simulate each request   3. Record frame states   4. Count hits and faults   5. Compare totals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199632"/>
            <a:ext cx="10881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BECFE6"/>
                </a:solidFill>
                <a:latin typeface="Aptos"/>
              </a:rPr>
              <a:t>Implementation status should be updated before presenting: label any unfinished feature as 'in progress'.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9CDE7"/>
                </a:solidFill>
                <a:latin typeface="Aptos"/>
              </a:rPr>
              <a:t>08  /  SMART PAGE REPLACEMENT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5F8FF"/>
                </a:solidFill>
                <a:latin typeface="Aptos"/>
              </a:rPr>
              <a:t>Example Results &amp;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71016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ECFE6"/>
                </a:solidFill>
                <a:latin typeface="Aptos"/>
              </a:rPr>
              <a:t>Illustrative run with 3 frames and reference string 1, 2, 3, 1, 4, 2, 5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46504"/>
            <a:ext cx="960120" cy="41148"/>
          </a:xfrm>
          <a:prstGeom prst="rect">
            <a:avLst/>
          </a:prstGeom>
          <a:solidFill>
            <a:srgbClr val="49CDE7"/>
          </a:solidFill>
          <a:ln>
            <a:solidFill>
              <a:srgbClr val="49C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6858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BECFE6"/>
                </a:solidFill>
                <a:latin typeface="Aptos"/>
              </a:rPr>
              <a:t>SMART PAGE REPLACEMENT 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01384"/>
            <a:ext cx="411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9CDE7"/>
                </a:solidFill>
                <a:latin typeface="Aptos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029968"/>
            <a:ext cx="3429000" cy="1024128"/>
          </a:xfrm>
          <a:prstGeom prst="roundRect">
            <a:avLst/>
          </a:prstGeom>
          <a:solidFill>
            <a:srgbClr val="172B4D"/>
          </a:solidFill>
          <a:ln>
            <a:solidFill>
              <a:srgbClr val="304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185416"/>
            <a:ext cx="1554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9CDE7"/>
                </a:solidFill>
                <a:latin typeface="Aptos"/>
              </a:rPr>
              <a:t>FIFO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87168"/>
            <a:ext cx="15544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5F8FF"/>
                </a:solidFill>
                <a:latin typeface="Aptos"/>
              </a:rPr>
              <a:t>5 faults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8608" y="2523744"/>
            <a:ext cx="13258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BECFE6"/>
                </a:solidFill>
                <a:latin typeface="Aptos"/>
              </a:rPr>
              <a:t>2 hits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2029968"/>
            <a:ext cx="3429000" cy="1024128"/>
          </a:xfrm>
          <a:prstGeom prst="roundRect">
            <a:avLst/>
          </a:prstGeom>
          <a:solidFill>
            <a:srgbClr val="172B4D"/>
          </a:solidFill>
          <a:ln>
            <a:solidFill>
              <a:srgbClr val="304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2185416"/>
            <a:ext cx="1554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0A5FA"/>
                </a:solidFill>
                <a:latin typeface="Aptos"/>
              </a:rPr>
              <a:t>LRU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487168"/>
            <a:ext cx="15544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5F8FF"/>
                </a:solidFill>
                <a:latin typeface="Aptos"/>
              </a:rPr>
              <a:t>6 faults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2523744"/>
            <a:ext cx="13258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BECFE6"/>
                </a:solidFill>
                <a:latin typeface="Aptos"/>
              </a:rPr>
              <a:t>1 hit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6" y="2029968"/>
            <a:ext cx="3429000" cy="1024128"/>
          </a:xfrm>
          <a:prstGeom prst="roundRect">
            <a:avLst/>
          </a:prstGeom>
          <a:solidFill>
            <a:srgbClr val="172B4D"/>
          </a:solidFill>
          <a:ln>
            <a:solidFill>
              <a:srgbClr val="304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74736" y="2185416"/>
            <a:ext cx="1554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3D297"/>
                </a:solidFill>
                <a:latin typeface="Aptos"/>
              </a:rPr>
              <a:t>OPTIMAL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2487168"/>
            <a:ext cx="15544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5F8FF"/>
                </a:solidFill>
                <a:latin typeface="Aptos"/>
              </a:rPr>
              <a:t>5 faults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0656" y="2523744"/>
            <a:ext cx="13258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 i="0">
                <a:solidFill>
                  <a:srgbClr val="BECFE6"/>
                </a:solidFill>
                <a:latin typeface="Aptos"/>
              </a:rPr>
              <a:t>2 hits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143000" y="3429000"/>
          <a:ext cx="987552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49CDE7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marL="109728" marR="73152" marT="54864" marB="36576">
                    <a:solidFill>
                      <a:srgbClr val="1123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9CDE7"/>
                          </a:solidFill>
                          <a:latin typeface="Aptos"/>
                        </a:rPr>
                        <a:t>FIFO</a:t>
                      </a:r>
                    </a:p>
                  </a:txBody>
                  <a:tcPr marL="109728" marR="73152" marT="54864" marB="36576">
                    <a:solidFill>
                      <a:srgbClr val="1123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9CDE7"/>
                          </a:solidFill>
                          <a:latin typeface="Aptos"/>
                        </a:rPr>
                        <a:t>LRU</a:t>
                      </a:r>
                    </a:p>
                  </a:txBody>
                  <a:tcPr marL="109728" marR="73152" marT="54864" marB="36576">
                    <a:solidFill>
                      <a:srgbClr val="1123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9CDE7"/>
                          </a:solidFill>
                          <a:latin typeface="Aptos"/>
                        </a:rPr>
                        <a:t>Optimal</a:t>
                      </a:r>
                    </a:p>
                  </a:txBody>
                  <a:tcPr marL="109728" marR="73152" marT="54864" marB="36576">
                    <a:solidFill>
                      <a:srgbClr val="1123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5F8FF"/>
                          </a:solidFill>
                          <a:latin typeface="Aptos"/>
                        </a:rPr>
                        <a:t>Page faults</a:t>
                      </a:r>
                    </a:p>
                  </a:txBody>
                  <a:tcPr marL="109728" marR="73152" marT="54864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8FF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109728" marR="73152" marT="54864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8FF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109728" marR="73152" marT="54864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8FF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109728" marR="73152" marT="54864" marB="36576">
                    <a:solidFill>
                      <a:srgbClr val="172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5F8FF"/>
                          </a:solidFill>
                          <a:latin typeface="Aptos"/>
                        </a:rPr>
                        <a:t>Page hits</a:t>
                      </a:r>
                    </a:p>
                  </a:txBody>
                  <a:tcPr marL="109728" marR="73152" marT="54864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8FF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109728" marR="73152" marT="54864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8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09728" marR="73152" marT="54864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8FF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109728" marR="73152" marT="54864" marB="36576">
                    <a:solidFill>
                      <a:srgbClr val="172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5F8FF"/>
                          </a:solidFill>
                          <a:latin typeface="Aptos"/>
                        </a:rPr>
                        <a:t>Hit ratio</a:t>
                      </a:r>
                    </a:p>
                  </a:txBody>
                  <a:tcPr marL="109728" marR="73152" marT="54864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8FF"/>
                          </a:solidFill>
                          <a:latin typeface="Aptos"/>
                        </a:rPr>
                        <a:t>28.6%</a:t>
                      </a:r>
                    </a:p>
                  </a:txBody>
                  <a:tcPr marL="109728" marR="73152" marT="54864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8FF"/>
                          </a:solidFill>
                          <a:latin typeface="Aptos"/>
                        </a:rPr>
                        <a:t>14.3%</a:t>
                      </a:r>
                    </a:p>
                  </a:txBody>
                  <a:tcPr marL="109728" marR="73152" marT="54864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5F8FF"/>
                          </a:solidFill>
                          <a:latin typeface="Aptos"/>
                        </a:rPr>
                        <a:t>28.6%</a:t>
                      </a:r>
                    </a:p>
                  </a:txBody>
                  <a:tcPr marL="109728" marR="73152" marT="54864" marB="36576">
                    <a:solidFill>
                      <a:srgbClr val="172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1143000" y="5166360"/>
            <a:ext cx="9875520" cy="566928"/>
          </a:xfrm>
          <a:prstGeom prst="roundRect">
            <a:avLst/>
          </a:prstGeom>
          <a:solidFill>
            <a:srgbClr val="112345"/>
          </a:solidFill>
          <a:ln>
            <a:solidFill>
              <a:srgbClr val="304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71600" y="5321808"/>
            <a:ext cx="9418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49CDE7"/>
                </a:solidFill>
                <a:latin typeface="Aptos"/>
              </a:rPr>
              <a:t>Recommendation: FIFO and Optimal tie at 5 faults for this input.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199632"/>
            <a:ext cx="10881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BECFE6"/>
                </a:solidFill>
                <a:latin typeface="Aptos"/>
              </a:rPr>
              <a:t>Illustrative results for the stated sequence; verify against the final implementation before presenting.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315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9CDE7"/>
                </a:solidFill>
                <a:latin typeface="Aptos"/>
              </a:rPr>
              <a:t>09  /  SMART PAGE REPLACEMENT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5F8FF"/>
                </a:solidFill>
                <a:latin typeface="Aptos"/>
              </a:rPr>
              <a:t>Testing, Impact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71016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ECFE6"/>
                </a:solidFill>
                <a:latin typeface="Aptos"/>
              </a:rPr>
              <a:t>How we can validate the simulator and extend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46504"/>
            <a:ext cx="960120" cy="41148"/>
          </a:xfrm>
          <a:prstGeom prst="rect">
            <a:avLst/>
          </a:prstGeom>
          <a:solidFill>
            <a:srgbClr val="49CDE7"/>
          </a:solidFill>
          <a:ln>
            <a:solidFill>
              <a:srgbClr val="49C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6858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BECFE6"/>
                </a:solidFill>
                <a:latin typeface="Aptos"/>
              </a:rPr>
              <a:t>SMART PAGE REPLACEMENT 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01384"/>
            <a:ext cx="411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9CDE7"/>
                </a:solidFill>
                <a:latin typeface="Aptos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057400"/>
            <a:ext cx="3429000" cy="2240280"/>
          </a:xfrm>
          <a:prstGeom prst="roundRect">
            <a:avLst/>
          </a:prstGeom>
          <a:solidFill>
            <a:srgbClr val="172B4D"/>
          </a:solidFill>
          <a:ln>
            <a:solidFill>
              <a:srgbClr val="304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9808" y="2057400"/>
            <a:ext cx="54864" cy="2240280"/>
          </a:xfrm>
          <a:prstGeom prst="rect">
            <a:avLst/>
          </a:prstGeom>
          <a:solidFill>
            <a:srgbClr val="49CDE7"/>
          </a:solidFill>
          <a:ln>
            <a:solidFill>
              <a:srgbClr val="49C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2212848"/>
            <a:ext cx="304495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8FF"/>
                </a:solidFill>
                <a:latin typeface="Aptos"/>
              </a:rPr>
              <a:t>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624328"/>
            <a:ext cx="3044952" cy="1563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ECFE6"/>
                </a:solidFill>
                <a:latin typeface="Aptos"/>
              </a:rPr>
              <a:t>• Empty or invalid input
• One frame / multiple frames
• Repeated page requests
• Page already in memory
• Full memory replacement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2057400"/>
            <a:ext cx="3429000" cy="2240280"/>
          </a:xfrm>
          <a:prstGeom prst="roundRect">
            <a:avLst/>
          </a:prstGeom>
          <a:solidFill>
            <a:srgbClr val="172B4D"/>
          </a:solidFill>
          <a:ln>
            <a:solidFill>
              <a:srgbClr val="304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0832" y="2057400"/>
            <a:ext cx="54864" cy="2240280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2212848"/>
            <a:ext cx="304495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8FF"/>
                </a:solidFill>
                <a:latin typeface="Aptos"/>
              </a:rPr>
              <a:t>EXPECTED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24328"/>
            <a:ext cx="3044952" cy="1563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ECFE6"/>
                </a:solidFill>
                <a:latin typeface="Aptos"/>
              </a:rPr>
              <a:t>• Makes OS concepts visual
• Helps students compare policies
• Reduces manual counting effort
• Supports repeatable experiments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6" y="2057400"/>
            <a:ext cx="3429000" cy="2240280"/>
          </a:xfrm>
          <a:prstGeom prst="roundRect">
            <a:avLst/>
          </a:prstGeom>
          <a:solidFill>
            <a:srgbClr val="172B4D"/>
          </a:solidFill>
          <a:ln>
            <a:solidFill>
              <a:srgbClr val="304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91856" y="2057400"/>
            <a:ext cx="54864" cy="2240280"/>
          </a:xfrm>
          <a:prstGeom prst="rect">
            <a:avLst/>
          </a:prstGeom>
          <a:solidFill>
            <a:srgbClr val="53D297"/>
          </a:solidFill>
          <a:ln>
            <a:solidFill>
              <a:srgbClr val="53D2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93024" y="2212848"/>
            <a:ext cx="304495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F8FF"/>
                </a:solidFill>
                <a:latin typeface="Aptos"/>
              </a:rPr>
              <a:t>FUTURE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2624328"/>
            <a:ext cx="3044952" cy="1563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ECFE6"/>
                </a:solidFill>
                <a:latin typeface="Aptos"/>
              </a:rPr>
              <a:t>• Step / pause / reset controls
• More algorithms (e.g., Clock)
• Export results as a report
• Improved accessibility and mobile layout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709160"/>
            <a:ext cx="10671048" cy="731520"/>
          </a:xfrm>
          <a:prstGeom prst="roundRect">
            <a:avLst/>
          </a:prstGeom>
          <a:solidFill>
            <a:srgbClr val="112345"/>
          </a:solidFill>
          <a:ln>
            <a:solidFill>
              <a:srgbClr val="304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" y="4928616"/>
            <a:ext cx="16916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9CDE7"/>
                </a:solidFill>
                <a:latin typeface="Aptos"/>
              </a:rPr>
              <a:t>VALIDATION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4892040"/>
            <a:ext cx="795527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F8FF"/>
                </a:solidFill>
                <a:latin typeface="Aptos"/>
              </a:rPr>
              <a:t>For every run: total requests = page hits + page faults.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45720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9CDE7"/>
                </a:solidFill>
                <a:latin typeface="Aptos"/>
              </a:rPr>
              <a:t>10  / 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8961120" cy="1325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5F8FF"/>
                </a:solidFill>
                <a:latin typeface="Aptos"/>
              </a:rPr>
              <a:t>A clearer way to understand
page replacement.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2880360"/>
            <a:ext cx="877824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ECFE6"/>
                </a:solidFill>
                <a:latin typeface="Aptos"/>
              </a:rPr>
              <a:t>The Smart Page Replacement Simulator brings together algorithm simulation, frame-by-frame visualization, performance metrics and a data-based recommendation.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4160520"/>
            <a:ext cx="7223760" cy="777240"/>
          </a:xfrm>
          <a:prstGeom prst="roundRect">
            <a:avLst/>
          </a:prstGeom>
          <a:solidFill>
            <a:srgbClr val="112345"/>
          </a:solidFill>
          <a:ln>
            <a:solidFill>
              <a:srgbClr val="304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4398264"/>
            <a:ext cx="6675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49CDE7"/>
                </a:solidFill>
                <a:latin typeface="Aptos"/>
              </a:rPr>
              <a:t>SIMULATE  •  VISUALIZE  •  COMPARE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486400"/>
            <a:ext cx="4572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5F8FF"/>
                </a:solidFill>
                <a:latin typeface="Aptos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2743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ECFE6"/>
                </a:solidFill>
                <a:latin typeface="Aptos"/>
              </a:rPr>
              <a:t>Questions?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828800"/>
            <a:ext cx="1645920" cy="566928"/>
          </a:xfrm>
          <a:prstGeom prst="roundRect">
            <a:avLst/>
          </a:prstGeom>
          <a:solidFill>
            <a:srgbClr val="172B4D"/>
          </a:solidFill>
          <a:ln>
            <a:solidFill>
              <a:srgbClr val="304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0" y="1947672"/>
            <a:ext cx="164592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49CDE7"/>
                </a:solidFill>
                <a:latin typeface="Aptos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2606040"/>
            <a:ext cx="1645920" cy="566928"/>
          </a:xfrm>
          <a:prstGeom prst="roundRect">
            <a:avLst/>
          </a:prstGeom>
          <a:solidFill>
            <a:srgbClr val="172B4D"/>
          </a:solidFill>
          <a:ln>
            <a:solidFill>
              <a:srgbClr val="304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0" y="2724912"/>
            <a:ext cx="164592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49CDE7"/>
                </a:solidFill>
                <a:latin typeface="Aptos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3383280"/>
            <a:ext cx="1645920" cy="566928"/>
          </a:xfrm>
          <a:prstGeom prst="roundRect">
            <a:avLst/>
          </a:prstGeom>
          <a:solidFill>
            <a:srgbClr val="172B4D"/>
          </a:solidFill>
          <a:ln>
            <a:solidFill>
              <a:srgbClr val="304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0" y="3502152"/>
            <a:ext cx="164592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49CDE7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4754880"/>
            <a:ext cx="356616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ECFE6"/>
                </a:solidFill>
                <a:latin typeface="Aptos"/>
              </a:rPr>
              <a:t>[Team Member Names]  |  KLH, Bachupally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907</Words>
  <Application>Microsoft Office PowerPoint</Application>
  <PresentationFormat>Widescreen</PresentationFormat>
  <Paragraphs>145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jahnavi padala</cp:lastModifiedBy>
  <cp:revision>2</cp:revision>
  <dcterms:created xsi:type="dcterms:W3CDTF">2013-01-27T09:14:16Z</dcterms:created>
  <dcterms:modified xsi:type="dcterms:W3CDTF">2026-10-16T17:57:57Z</dcterms:modified>
  <cp:category/>
</cp:coreProperties>
</file>